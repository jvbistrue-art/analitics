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2011680" cy="329184"/>
          </a:xfrm>
          <a:prstGeom prst="roundRect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0E18"/>
                </a:solidFill>
                <a:latin typeface="Aptos"/>
              </a:rPr>
              <a:t>AI-native smartphone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640080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F4F7FB"/>
                </a:solidFill>
                <a:latin typeface="Aptos"/>
              </a:rPr>
              <a:t>AgentPhone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9696"/>
            <a:ext cx="64008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52ECAB"/>
                </a:solidFill>
                <a:latin typeface="Aptos"/>
              </a:rPr>
              <a:t>Не «AI в телефоне».
Телефон под управлением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18688"/>
            <a:ext cx="5989320" cy="932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A2AEC3"/>
                </a:solidFill>
                <a:latin typeface="Aptos"/>
              </a:rPr>
              <a:t>Личный agent-помощник, у которого Pixel — это руки, глаза и безопасный доступ к цифровой жизни пользователя.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681728"/>
            <a:ext cx="1691640" cy="98755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64608"/>
            <a:ext cx="128930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2ECAB"/>
                </a:solidFill>
                <a:latin typeface="Aptos"/>
              </a:rP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431536"/>
            <a:ext cx="125272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приложений сегодня управляются человеком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681728"/>
            <a:ext cx="1691640" cy="98755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4864608"/>
            <a:ext cx="128930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2ECA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5431536"/>
            <a:ext cx="125272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чат-интерфейс вместо иконок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4681728"/>
            <a:ext cx="1691640" cy="98755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4864608"/>
            <a:ext cx="128930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2ECAB"/>
                </a:solidFill>
                <a:latin typeface="Aptos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5431536"/>
            <a:ext cx="125272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устройств/мес — первая PMF-метрика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640080"/>
            <a:ext cx="2834640" cy="5440680"/>
          </a:xfrm>
          <a:prstGeom prst="roundRect">
            <a:avLst/>
          </a:prstGeom>
          <a:solidFill>
            <a:srgbClr val="080B12"/>
          </a:solidFill>
          <a:ln w="17780">
            <a:solidFill>
              <a:srgbClr val="4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9287" y="841248"/>
            <a:ext cx="2560320" cy="5038344"/>
          </a:xfrm>
          <a:prstGeom prst="roundRect">
            <a:avLst/>
          </a:prstGeom>
          <a:solidFill>
            <a:srgbClr val="0D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1060704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4744" y="1581912"/>
            <a:ext cx="1754550" cy="530352"/>
          </a:xfrm>
          <a:prstGeom prst="roundRect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0A0E18"/>
                </a:solidFill>
                <a:latin typeface="Aptos"/>
              </a:rPr>
              <a:t>Хочу попить пива завтра с Васей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9" y="2267712"/>
            <a:ext cx="1754550" cy="530352"/>
          </a:xfrm>
          <a:prstGeom prst="round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F4F7FB"/>
                </a:solidFill>
                <a:latin typeface="Aptos"/>
              </a:rPr>
              <a:t>Нашёл 3 немецких бара. Написать Васе и забронировать?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4744" y="3182112"/>
            <a:ext cx="1754550" cy="530352"/>
          </a:xfrm>
          <a:prstGeom prst="roundRect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0A0E18"/>
                </a:solidFill>
                <a:latin typeface="Aptos"/>
              </a:rPr>
              <a:t>Да, на 19:30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9" y="3822192"/>
            <a:ext cx="1754550" cy="530352"/>
          </a:xfrm>
          <a:prstGeom prst="round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F4F7FB"/>
                </a:solidFill>
                <a:latin typeface="Aptos"/>
              </a:rPr>
              <a:t>Готово: Вася подтвердил, стол забронирован, календарь обновлён.</a:t>
            </a:r>
          </a:p>
        </p:txBody>
      </p:sp>
      <p:sp>
        <p:nvSpPr>
          <p:cNvPr id="24" name="Oval 23"/>
          <p:cNvSpPr/>
          <p:nvPr/>
        </p:nvSpPr>
        <p:spPr>
          <a:xfrm>
            <a:off x="9006839" y="5330952"/>
            <a:ext cx="585216" cy="585216"/>
          </a:xfrm>
          <a:prstGeom prst="ellipse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5" y="5458968"/>
            <a:ext cx="14630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0A0E18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Проблема: смартфон стал пультом от 30+ сервисов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Пользователь не хочет управлять интерфейсами. Он хочет, чтобы задача была сделана.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01568" cy="2999232"/>
          </a:xfrm>
          <a:prstGeom prst="roundRect">
            <a:avLst/>
          </a:prstGeom>
          <a:solidFill>
            <a:srgbClr val="12192A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2788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C65D"/>
                </a:solidFill>
                <a:latin typeface="Aptos"/>
              </a:rPr>
              <a:t>Сегодня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63824"/>
            <a:ext cx="27889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помнить, где какая иконка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кликать 5–10 экранов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держать контекст в голове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331720"/>
            <a:ext cx="3401568" cy="2999232"/>
          </a:xfrm>
          <a:prstGeom prst="roundRect">
            <a:avLst/>
          </a:prstGeom>
          <a:solidFill>
            <a:srgbClr val="12192A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633472"/>
            <a:ext cx="2788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7293"/>
                </a:solidFill>
                <a:latin typeface="Aptos"/>
              </a:rPr>
              <a:t>Ассистенты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163824"/>
            <a:ext cx="27889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заменяют клики голосом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не планируют end-to-end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не владеют состоянием задачи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2331720"/>
            <a:ext cx="3401568" cy="2999232"/>
          </a:xfrm>
          <a:prstGeom prst="roundRect">
            <a:avLst/>
          </a:prstGeom>
          <a:solidFill>
            <a:srgbClr val="12192A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2633472"/>
            <a:ext cx="2788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52ECAB"/>
                </a:solidFill>
                <a:latin typeface="Aptos"/>
              </a:rPr>
              <a:t>Рынок ждёт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3163824"/>
            <a:ext cx="27889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один вход: цель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память о человеке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действия в приложениях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Решение: launcher превращается в agent-runtime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Пользователь формулирует цель. AgentPhone планирует, действует, проверяет результат и просит подтверждение только там, где есть риск.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23160" cy="4160520"/>
          </a:xfrm>
          <a:prstGeom prst="roundRect">
            <a:avLst/>
          </a:prstGeom>
          <a:solidFill>
            <a:srgbClr val="080B12"/>
          </a:solidFill>
          <a:ln w="17780">
            <a:solidFill>
              <a:srgbClr val="4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" y="2304288"/>
            <a:ext cx="2148840" cy="3758184"/>
          </a:xfrm>
          <a:prstGeom prst="roundRect">
            <a:avLst/>
          </a:prstGeom>
          <a:solidFill>
            <a:srgbClr val="0D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523744"/>
            <a:ext cx="1783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2AEC3"/>
                </a:solidFill>
                <a:latin typeface="Aptos"/>
              </a:rPr>
              <a:t>Chat Launcher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934" y="3044952"/>
            <a:ext cx="1417137" cy="530352"/>
          </a:xfrm>
          <a:prstGeom prst="roundRect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0A0E18"/>
                </a:solidFill>
                <a:latin typeface="Aptos"/>
              </a:rPr>
              <a:t>Хочу попить пива завтра с Васей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3730752"/>
            <a:ext cx="1417137" cy="530352"/>
          </a:xfrm>
          <a:prstGeom prst="round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F4F7FB"/>
                </a:solidFill>
                <a:latin typeface="Aptos"/>
              </a:rPr>
              <a:t>Нашёл 3 немецких бара. Написать Васе и забронировать?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934" y="4645152"/>
            <a:ext cx="1417137" cy="530352"/>
          </a:xfrm>
          <a:prstGeom prst="roundRect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0A0E18"/>
                </a:solidFill>
                <a:latin typeface="Aptos"/>
              </a:rPr>
              <a:t>Да, на 19:30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3856" y="5285232"/>
            <a:ext cx="1417137" cy="530352"/>
          </a:xfrm>
          <a:prstGeom prst="roundRect">
            <a:avLst/>
          </a:prstGeom>
          <a:solidFill>
            <a:srgbClr val="1E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36576"/>
          <a:lstStyle/>
          <a:p>
            <a:pPr algn="ctr"/>
            <a:r>
              <a:rPr sz="950">
                <a:solidFill>
                  <a:srgbClr val="F4F7FB"/>
                </a:solidFill>
                <a:latin typeface="Aptos"/>
              </a:rPr>
              <a:t>Готово: Вася подтвердил, стол забронирован, календарь обновлён.</a:t>
            </a:r>
          </a:p>
        </p:txBody>
      </p:sp>
      <p:sp>
        <p:nvSpPr>
          <p:cNvPr id="14" name="Oval 13"/>
          <p:cNvSpPr/>
          <p:nvPr/>
        </p:nvSpPr>
        <p:spPr>
          <a:xfrm>
            <a:off x="1705356" y="5513832"/>
            <a:ext cx="585216" cy="585216"/>
          </a:xfrm>
          <a:prstGeom prst="ellipse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4812" y="5641848"/>
            <a:ext cx="14630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0A0E18"/>
                </a:solidFill>
                <a:latin typeface="Aptos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67328" y="2176272"/>
            <a:ext cx="3273552" cy="1133856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6784" y="2377440"/>
            <a:ext cx="38404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2ECAB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50008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Aptos"/>
              </a:rPr>
              <a:t>Понять цель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06624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A2AEC3"/>
                </a:solidFill>
                <a:latin typeface="Aptos"/>
              </a:rPr>
              <a:t>распознать intent и недостающие параметры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34656" y="2176272"/>
            <a:ext cx="3273552" cy="1133856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2377440"/>
            <a:ext cx="38404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2ECAB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350008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Aptos"/>
              </a:rPr>
              <a:t>Разложить на план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706624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A2AEC3"/>
                </a:solidFill>
                <a:latin typeface="Aptos"/>
              </a:rPr>
              <a:t>выбрать приложение, системный сервис или cloud-agent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7328" y="3785615"/>
            <a:ext cx="3273552" cy="1133856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6784" y="3986783"/>
            <a:ext cx="38404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2ECAB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59351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Aptos"/>
              </a:rPr>
              <a:t>Сделать руками Pixel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15967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A2AEC3"/>
                </a:solidFill>
                <a:latin typeface="Aptos"/>
              </a:rPr>
              <a:t>Accessibility: пишет, кликает, навигирует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34656" y="3785615"/>
            <a:ext cx="3273552" cy="1133856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3986783"/>
            <a:ext cx="38404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52ECAB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59351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Aptos"/>
              </a:rPr>
              <a:t>Проверить и запомнить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315967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A2AEC3"/>
                </a:solidFill>
                <a:latin typeface="Aptos"/>
              </a:rPr>
              <a:t>мониторинг, replanning, Personal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486400"/>
            <a:ext cx="713232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2ECAB"/>
                </a:solidFill>
                <a:latin typeface="Aptos"/>
              </a:rPr>
              <a:t>Метафора: Jarvis из Iron Man, не Google Assistant.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HERO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Флагманский сценарий показывает магию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«Хочу попить пива с Васей в немецком баре завтра» — один запрос вместо цепочки из мессенджера, карт, браузера, бронирования и календаря.</a:t>
            </a:r>
          </a:p>
        </p:txBody>
      </p:sp>
      <p:sp>
        <p:nvSpPr>
          <p:cNvPr id="7" name="Oval 6"/>
          <p:cNvSpPr/>
          <p:nvPr/>
        </p:nvSpPr>
        <p:spPr>
          <a:xfrm>
            <a:off x="841248" y="2816352"/>
            <a:ext cx="566928" cy="566928"/>
          </a:xfrm>
          <a:prstGeom prst="ellipse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28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8"/>
                </a:solidFill>
                <a:latin typeface="Apto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99616" y="3099816"/>
            <a:ext cx="1243584" cy="0"/>
          </a:xfrm>
          <a:prstGeom prst="line">
            <a:avLst/>
          </a:prstGeom>
          <a:ln w="20320">
            <a:solidFill>
              <a:srgbClr val="5E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602736"/>
            <a:ext cx="12984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Понял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5072"/>
            <a:ext cx="1874519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2AEC3"/>
                </a:solidFill>
                <a:latin typeface="Aptos"/>
              </a:rPr>
              <a:t>Вася = контакт, завтра = дата, немецкий бар = предпочтение</a:t>
            </a:r>
          </a:p>
        </p:txBody>
      </p:sp>
      <p:sp>
        <p:nvSpPr>
          <p:cNvPr id="12" name="Oval 11"/>
          <p:cNvSpPr/>
          <p:nvPr/>
        </p:nvSpPr>
        <p:spPr>
          <a:xfrm>
            <a:off x="3054096" y="2816352"/>
            <a:ext cx="566928" cy="566928"/>
          </a:xfrm>
          <a:prstGeom prst="ellipse">
            <a:avLst/>
          </a:prstGeom>
          <a:solidFill>
            <a:srgbClr val="5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2926080"/>
            <a:ext cx="228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8"/>
                </a:solidFill>
                <a:latin typeface="Apto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12464" y="3099816"/>
            <a:ext cx="1243584" cy="0"/>
          </a:xfrm>
          <a:prstGeom prst="line">
            <a:avLst/>
          </a:prstGeom>
          <a:ln w="20320">
            <a:solidFill>
              <a:srgbClr val="5E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44368" y="3602736"/>
            <a:ext cx="12984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Нашёл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4005072"/>
            <a:ext cx="1874519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2AEC3"/>
                </a:solidFill>
                <a:latin typeface="Aptos"/>
              </a:rPr>
              <a:t>3 бара рядом, проверил рейтинг и доступность</a:t>
            </a:r>
          </a:p>
        </p:txBody>
      </p:sp>
      <p:sp>
        <p:nvSpPr>
          <p:cNvPr id="17" name="Oval 16"/>
          <p:cNvSpPr/>
          <p:nvPr/>
        </p:nvSpPr>
        <p:spPr>
          <a:xfrm>
            <a:off x="5266944" y="2816352"/>
            <a:ext cx="566928" cy="566928"/>
          </a:xfrm>
          <a:prstGeom prst="ellipse">
            <a:avLst/>
          </a:prstGeom>
          <a:solidFill>
            <a:srgbClr val="5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6" y="2926080"/>
            <a:ext cx="228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8"/>
                </a:solidFill>
                <a:latin typeface="Aptos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25312" y="3099816"/>
            <a:ext cx="1243584" cy="0"/>
          </a:xfrm>
          <a:prstGeom prst="line">
            <a:avLst/>
          </a:prstGeom>
          <a:ln w="20320">
            <a:solidFill>
              <a:srgbClr val="5E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57216" y="3602736"/>
            <a:ext cx="12984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Согласовал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4005072"/>
            <a:ext cx="1874519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2AEC3"/>
                </a:solidFill>
                <a:latin typeface="Aptos"/>
              </a:rPr>
              <a:t>написал Васе в предпочитаемом канале</a:t>
            </a:r>
          </a:p>
        </p:txBody>
      </p:sp>
      <p:sp>
        <p:nvSpPr>
          <p:cNvPr id="22" name="Oval 21"/>
          <p:cNvSpPr/>
          <p:nvPr/>
        </p:nvSpPr>
        <p:spPr>
          <a:xfrm>
            <a:off x="7479792" y="2816352"/>
            <a:ext cx="566928" cy="566928"/>
          </a:xfrm>
          <a:prstGeom prst="ellipse">
            <a:avLst/>
          </a:prstGeom>
          <a:solidFill>
            <a:srgbClr val="5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4" y="2926080"/>
            <a:ext cx="228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8"/>
                </a:solidFill>
                <a:latin typeface="Aptos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38160" y="3099816"/>
            <a:ext cx="1243584" cy="0"/>
          </a:xfrm>
          <a:prstGeom prst="line">
            <a:avLst/>
          </a:prstGeom>
          <a:ln w="20320">
            <a:solidFill>
              <a:srgbClr val="5E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70064" y="3602736"/>
            <a:ext cx="12984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Забронировал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4005072"/>
            <a:ext cx="1874519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2AEC3"/>
                </a:solidFill>
                <a:latin typeface="Aptos"/>
              </a:rPr>
              <a:t>поставил APK бара при необходимости</a:t>
            </a:r>
          </a:p>
        </p:txBody>
      </p:sp>
      <p:sp>
        <p:nvSpPr>
          <p:cNvPr id="27" name="Oval 26"/>
          <p:cNvSpPr/>
          <p:nvPr/>
        </p:nvSpPr>
        <p:spPr>
          <a:xfrm>
            <a:off x="9692640" y="2816352"/>
            <a:ext cx="566928" cy="566928"/>
          </a:xfrm>
          <a:prstGeom prst="ellipse">
            <a:avLst/>
          </a:prstGeom>
          <a:solidFill>
            <a:srgbClr val="5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2926080"/>
            <a:ext cx="228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E18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3602736"/>
            <a:ext cx="129844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4F7FB"/>
                </a:solidFill>
                <a:latin typeface="Aptos"/>
              </a:rPr>
              <a:t>Зафиксировал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005072"/>
            <a:ext cx="1874519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A2AEC3"/>
                </a:solidFill>
                <a:latin typeface="Aptos"/>
              </a:rPr>
              <a:t>календарь, напоминание, replan при изменениях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358384"/>
            <a:ext cx="10149840" cy="676656"/>
          </a:xfrm>
          <a:prstGeom prst="roundRect">
            <a:avLst/>
          </a:prstGeom>
          <a:solidFill>
            <a:srgbClr val="112B2C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35024" y="5532120"/>
            <a:ext cx="9509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2ECAB"/>
                </a:solidFill>
                <a:latin typeface="Aptos"/>
              </a:rPr>
              <a:t>Продажа не в «умном чате», а в выполненной задаче: пользователь получает результат без ручного управления приложениями.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Четыре обещания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Они переводят техническую архитектуру в понятную покупателю ценность.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49424"/>
            <a:ext cx="5074920" cy="109728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432304"/>
            <a:ext cx="1143000" cy="329184"/>
          </a:xfrm>
          <a:prstGeom prst="roundRect">
            <a:avLst/>
          </a:prstGeom>
          <a:solidFill>
            <a:srgbClr val="52E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0E18"/>
                </a:solidFill>
                <a:latin typeface="Aptos"/>
              </a:rPr>
              <a:t>Думает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2478024"/>
            <a:ext cx="315468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Aptos"/>
              </a:rPr>
              <a:t>декомпозирует цель, планирует шаги, перепланирует при изменениях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2249424"/>
            <a:ext cx="5074920" cy="109728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65392" y="2432304"/>
            <a:ext cx="1143000" cy="329184"/>
          </a:xfrm>
          <a:prstGeom prst="roundRect">
            <a:avLst/>
          </a:prstGeom>
          <a:solidFill>
            <a:srgbClr val="5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0E18"/>
                </a:solidFill>
                <a:latin typeface="Aptos"/>
              </a:rPr>
              <a:t>Действует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478024"/>
            <a:ext cx="315468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Aptos"/>
              </a:rPr>
              <a:t>использует приложения как инструменты: пишет, кликает, ставит APK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858768"/>
            <a:ext cx="5074920" cy="109728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" y="4041648"/>
            <a:ext cx="1143000" cy="329184"/>
          </a:xfrm>
          <a:prstGeom prst="roundRect">
            <a:avLst/>
          </a:prstGeom>
          <a:solidFill>
            <a:srgbClr val="FFC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0E18"/>
                </a:solidFill>
                <a:latin typeface="Aptos"/>
              </a:rPr>
              <a:t>Помнит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4087368"/>
            <a:ext cx="315468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Aptos"/>
              </a:rPr>
              <a:t>Personal KB: контакты, события, привычки — не в приложениях, а у пользователя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858768"/>
            <a:ext cx="5074920" cy="109728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65392" y="4041648"/>
            <a:ext cx="1143000" cy="329184"/>
          </a:xfrm>
          <a:prstGeom prst="roundRect">
            <a:avLst/>
          </a:prstGeom>
          <a:solidFill>
            <a:srgbClr val="FF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0E18"/>
                </a:solidFill>
                <a:latin typeface="Aptos"/>
              </a:rPr>
              <a:t>Защищает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4087368"/>
            <a:ext cx="315468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Aptos"/>
              </a:rPr>
              <a:t>L0/L1/L2 подтверждения, sandbox-карта, E2EE backup,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Доверие встроено в UX, а не добавлено после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AgentPhone просит подтверждение по уровню риска и оставляет проверяемый журнал действий.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5029200" cy="786384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5669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2ECAB"/>
                </a:solidFill>
                <a:latin typeface="Aptos"/>
              </a:rPr>
              <a:t>L0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86584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Aptos"/>
              </a:rPr>
              <a:t>Read-only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414016"/>
            <a:ext cx="18745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агент действует молча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00984"/>
            <a:ext cx="5029200" cy="786384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47288"/>
            <a:ext cx="5669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FFC65D"/>
                </a:solidFill>
                <a:latin typeface="Aptos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47288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Aptos"/>
              </a:rPr>
              <a:t>State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474720"/>
            <a:ext cx="18745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подтверждение в чате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61688"/>
            <a:ext cx="5029200" cy="786384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07992"/>
            <a:ext cx="56692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FF7293"/>
                </a:solidFill>
                <a:latin typeface="Aptos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07992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Aptos"/>
              </a:rPr>
              <a:t>Деньги / третьи лица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4535424"/>
            <a:ext cx="18745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голосовое подтверждение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76272"/>
            <a:ext cx="4956048" cy="3255264"/>
          </a:xfrm>
          <a:prstGeom prst="roundRect">
            <a:avLst/>
          </a:prstGeom>
          <a:solidFill>
            <a:srgbClr val="1C1C31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514600"/>
            <a:ext cx="43891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2ECAB"/>
                </a:solidFill>
                <a:latin typeface="Aptos"/>
              </a:rPr>
              <a:t>Финансовый 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072384"/>
            <a:ext cx="3977639" cy="166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отдельная агентская карта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лимиты и журнал операций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компрометация агента ≠ компрометация всех средств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4892040"/>
            <a:ext cx="41605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A2AEC3"/>
                </a:solidFill>
                <a:latin typeface="Aptos"/>
              </a:rPr>
              <a:t>Память: локально + E2EE backup, ключ у пользователя.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Архитектура: local-first там, где важна приватность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Сложное планирование уходит в облако только обезличенным slice. Простые и чувствительные задачи остаются на устройстве.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212848"/>
            <a:ext cx="3246120" cy="336499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274320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52ECAB"/>
                </a:solidFill>
                <a:latin typeface="Aptos"/>
              </a:rPr>
              <a:t>Pixel + LineageOS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27248"/>
            <a:ext cx="260604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чат-launcher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Agent Runtime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AccessibilityService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NotificationListener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PackageInstaller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1144" y="2212848"/>
            <a:ext cx="3246120" cy="336499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542032"/>
            <a:ext cx="274320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5E9CFF"/>
                </a:solidFill>
                <a:latin typeface="Aptos"/>
              </a:rPr>
              <a:t>Local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127248"/>
            <a:ext cx="260604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LLM Tiny 1B router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LLM Small 3–4B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Whisper-small ASR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Embeddings + Vector DB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Silero TTS optional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2212848"/>
            <a:ext cx="3246120" cy="336499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542032"/>
            <a:ext cx="274320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FC65D"/>
                </a:solidFill>
                <a:latin typeface="Aptos"/>
              </a:rP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127248"/>
            <a:ext cx="260604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Planner / Researcher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LLM API via BYOK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OTA origin + CDN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E2EE backup storage</a:t>
            </a:r>
          </a:p>
          <a:p>
            <a:pPr marL="0">
              <a:spcAft>
                <a:spcPts val="576"/>
              </a:spcAft>
              <a:defRPr sz="1350">
                <a:solidFill>
                  <a:srgbClr val="F4F7FB"/>
                </a:solidFill>
                <a:latin typeface="Aptos"/>
              </a:defRPr>
            </a:pPr>
            <a:r>
              <a:t>monitoring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870448"/>
            <a:ext cx="10698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A2AEC3"/>
                </a:solidFill>
                <a:latin typeface="Aptos"/>
              </a:rPr>
              <a:t>Size budget моделей: ~5 GB. RAM peak: ~3–4 GB. OTA через стандартный Android update_engine с A/B rollback.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Почему сейчас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Несколько технологий впервые стали достаточно зрелыми, чтобы AI мог управлять телефоном, а не просто отвечать в чате.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" y="2176272"/>
            <a:ext cx="4892040" cy="1042415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386584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2ECAB"/>
                </a:solidFill>
                <a:latin typeface="Aptos"/>
              </a:rPr>
              <a:t>On-device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368296"/>
            <a:ext cx="24231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4F7FB"/>
                </a:solidFill>
                <a:latin typeface="Aptos"/>
              </a:rPr>
              <a:t>1–4B модели уже помещаются в мобильный budget для роутинга и приватных задач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3368" y="2176272"/>
            <a:ext cx="4892040" cy="1042415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386584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2ECAB"/>
                </a:solidFill>
                <a:latin typeface="Aptos"/>
              </a:rPr>
              <a:t>Android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2368296"/>
            <a:ext cx="24231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4F7FB"/>
                </a:solidFill>
                <a:latin typeface="Aptos"/>
              </a:rPr>
              <a:t>Accessibility, уведомления, календарь, контакты и A/B OTA дают агенту реальные руки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3749039"/>
            <a:ext cx="4892040" cy="1042415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959351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2ECAB"/>
                </a:solidFill>
                <a:latin typeface="Aptos"/>
              </a:rPr>
              <a:t>Cloud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941063"/>
            <a:ext cx="24231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4F7FB"/>
                </a:solidFill>
                <a:latin typeface="Aptos"/>
              </a:rPr>
              <a:t>сложные задачи можно выносить в облако без раскрытия всей персональной памяти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73368" y="3749039"/>
            <a:ext cx="4892040" cy="1042415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3959351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52ECAB"/>
                </a:solidFill>
                <a:latin typeface="Aptos"/>
              </a:rPr>
              <a:t>Open-source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3941063"/>
            <a:ext cx="24231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0">
                <a:solidFill>
                  <a:srgbClr val="F4F7FB"/>
                </a:solidFill>
                <a:latin typeface="Aptos"/>
              </a:rPr>
              <a:t>LineageOS + Apache 2.0 снижают барьер доверия для ранних пользователей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Бизнес-модель: продаём готовый AI-телефон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Open-source — канал доверия и distribution. Деньги — в устройстве под ключ и управляемой agent-инфраструктуре.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2331720" cy="114300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468880"/>
            <a:ext cx="192938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2ECAB"/>
                </a:solidFill>
                <a:latin typeface="Aptos"/>
              </a:rPr>
              <a:t>Pixel +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035808"/>
            <a:ext cx="18928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прошитые телефоны под ключ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286000"/>
            <a:ext cx="2331720" cy="114300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192938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5E9CFF"/>
                </a:solidFill>
                <a:latin typeface="Aptos"/>
              </a:rPr>
              <a:t>$5–10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3035808"/>
            <a:ext cx="18928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default cloud budget на пользователя в месяц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2286000"/>
            <a:ext cx="2331720" cy="114300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2468880"/>
            <a:ext cx="192938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C65D"/>
                </a:solidFill>
                <a:latin typeface="Aptos"/>
              </a:rPr>
              <a:t>BYOK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3035808"/>
            <a:ext cx="18928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контроль cost и выбор LLM-провайдера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286000"/>
            <a:ext cx="2331720" cy="114300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2468880"/>
            <a:ext cx="192938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7293"/>
                </a:solidFill>
                <a:latin typeface="Aptos"/>
              </a:rPr>
              <a:t>100/мес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3035808"/>
            <a:ext cx="189280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A2AEC3"/>
                </a:solidFill>
                <a:latin typeface="Aptos"/>
              </a:rPr>
              <a:t>первая PMF-метрика: проданные устройства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160520"/>
            <a:ext cx="9966960" cy="1170432"/>
          </a:xfrm>
          <a:prstGeom prst="roundRect">
            <a:avLst/>
          </a:prstGeom>
          <a:solidFill>
            <a:srgbClr val="142A36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2" y="4443984"/>
            <a:ext cx="92354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2ECAB"/>
                </a:solidFill>
                <a:latin typeface="Aptos"/>
              </a:rPr>
              <a:t>Покупатель платит не за ещё один ассистент, а за смартфон, который перестаёт требовать оператора.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Почему AgentPhone ≠ Rabbit R1 и Humane AI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Они пытались добавить новый гаджет. AgentPhone заменяет основной смартфон, сохраняя привычный форм-фактор и приложения.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12848"/>
            <a:ext cx="4892040" cy="2971800"/>
          </a:xfrm>
          <a:prstGeom prst="roundRect">
            <a:avLst/>
          </a:prstGeom>
          <a:solidFill>
            <a:srgbClr val="301826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4114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7293"/>
                </a:solidFill>
                <a:latin typeface="Aptos"/>
              </a:rPr>
              <a:t>AI-gadgets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46120"/>
            <a:ext cx="3840480" cy="129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ещё одна вещь в кармане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нужно менять поведение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ограниченный доступ к приложениям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2212848"/>
            <a:ext cx="4892040" cy="2971800"/>
          </a:xfrm>
          <a:prstGeom prst="roundRect">
            <a:avLst/>
          </a:prstGeom>
          <a:solidFill>
            <a:srgbClr val="112D2B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1424" y="2560320"/>
            <a:ext cx="4114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2ECAB"/>
                </a:solidFill>
                <a:latin typeface="Aptos"/>
              </a:rPr>
              <a:t>AgentPhone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864" y="3246120"/>
            <a:ext cx="3840480" cy="1298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тот же Pixel в кармане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привычные жесты и приложения</a:t>
            </a:r>
          </a:p>
          <a:p>
            <a:pPr marL="0">
              <a:spcAft>
                <a:spcPts val="1152"/>
              </a:spcAft>
              <a:defRPr sz="1800">
                <a:solidFill>
                  <a:srgbClr val="F4F7FB"/>
                </a:solidFill>
                <a:latin typeface="Aptos"/>
              </a:defRPr>
            </a:pPr>
            <a:r>
              <a:t>новый intelligence-layer внутри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Первый рынок: люди, для которых время дороже настройки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Продукт продаётся через сильные сценарии, а не через список фич.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23160"/>
            <a:ext cx="3200400" cy="190195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43200"/>
            <a:ext cx="27432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52ECAB"/>
                </a:solidFill>
                <a:latin typeface="Aptos"/>
              </a:rPr>
              <a:t>Founders / operators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3401568"/>
            <a:ext cx="2423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4F7FB"/>
                </a:solidFill>
                <a:latin typeface="Aptos"/>
              </a:rPr>
              <a:t>много переписок, встреч, оплат, быстрых решений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23160"/>
            <a:ext cx="3200400" cy="190195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2743200"/>
            <a:ext cx="27432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52ECAB"/>
                </a:solidFill>
                <a:latin typeface="Aptos"/>
              </a:rPr>
              <a:t>Tech early adopters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3401568"/>
            <a:ext cx="2423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4F7FB"/>
                </a:solidFill>
                <a:latin typeface="Aptos"/>
              </a:rPr>
              <a:t>готовы платить за новый интерфейс к жизни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2423160"/>
            <a:ext cx="3200400" cy="1901952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2743200"/>
            <a:ext cx="274320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52ECAB"/>
                </a:solidFill>
                <a:latin typeface="Aptos"/>
              </a:rPr>
              <a:t>Power users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01568"/>
            <a:ext cx="24231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4F7FB"/>
                </a:solidFill>
                <a:latin typeface="Aptos"/>
              </a:rPr>
              <a:t>ценят кастомизацию, privacy и open-source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956048"/>
            <a:ext cx="9372600" cy="749808"/>
          </a:xfrm>
          <a:prstGeom prst="roundRect">
            <a:avLst/>
          </a:prstGeom>
          <a:solidFill>
            <a:srgbClr val="18223A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3936" y="5166360"/>
            <a:ext cx="8686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A2AEC3"/>
                </a:solidFill>
                <a:latin typeface="Aptos"/>
              </a:rPr>
              <a:t>Стартовая витрина: 5 эталонных user stories, где агент делает задачу end-to-end.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640080"/>
            <a:ext cx="4023360" cy="4023360"/>
          </a:xfrm>
          <a:prstGeom prst="ellipse">
            <a:avLst/>
          </a:prstGeom>
          <a:solidFill>
            <a:srgbClr val="144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303520"/>
            <a:ext cx="3840480" cy="3840480"/>
          </a:xfrm>
          <a:prstGeom prst="ellipse">
            <a:avLst/>
          </a:prstGeom>
          <a:solidFill>
            <a:srgbClr val="352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52ECAB"/>
                </a:solidFill>
                <a:latin typeface="Aptos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789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Aptos"/>
              </a:rPr>
              <a:t>Следующий шаг: превратить прототип в первые 100 устройств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96696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A2AEC3"/>
                </a:solidFill>
                <a:latin typeface="Aptos"/>
              </a:rPr>
              <a:t>Фокус — доказать, что люди покупают не «AI-фичу», а новый способ пользоваться смартфоном.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3383280" cy="292608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514600"/>
            <a:ext cx="274320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2ECAB"/>
                </a:solidFill>
                <a:latin typeface="Aptos"/>
              </a:rPr>
              <a:t>Что доказываем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090672"/>
            <a:ext cx="265176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100 проданных устройств/мес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5 killer-сценариев работают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удержание через Personal KB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2148840"/>
            <a:ext cx="3383280" cy="292608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2514600"/>
            <a:ext cx="274320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FFC65D"/>
                </a:solidFill>
                <a:latin typeface="Aptos"/>
              </a:rPr>
              <a:t>Что нужно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3090672"/>
            <a:ext cx="265176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ранние покупатели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партнёры по Pixel-поставке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ресурсы на agent-runtime и OTA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148840"/>
            <a:ext cx="3383280" cy="2926080"/>
          </a:xfrm>
          <a:prstGeom prst="roundRect">
            <a:avLst/>
          </a:prstGeom>
          <a:solidFill>
            <a:srgbClr val="172339"/>
          </a:solidFill>
          <a:ln>
            <a:solidFill>
              <a:srgbClr val="2C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514600"/>
            <a:ext cx="274320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" b="1">
                <a:solidFill>
                  <a:srgbClr val="5E9CFF"/>
                </a:solidFill>
                <a:latin typeface="Aptos"/>
              </a:rPr>
              <a:t>Почему верить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090672"/>
            <a:ext cx="265176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существующий Android-форм-фактор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local-first безопасность</a:t>
            </a:r>
          </a:p>
          <a:p>
            <a:pPr marL="0">
              <a:spcAft>
                <a:spcPts val="1152"/>
              </a:spcAft>
              <a:defRPr sz="1600">
                <a:solidFill>
                  <a:srgbClr val="F4F7FB"/>
                </a:solidFill>
                <a:latin typeface="Aptos"/>
              </a:defRPr>
            </a:pPr>
            <a:r>
              <a:t>open-source доверие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10149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52ECAB"/>
                </a:solidFill>
                <a:latin typeface="Aptos"/>
              </a:rPr>
              <a:t>AgentPhone: smartphone becomes an agent.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A2AEC3"/>
                </a:solidFill>
                <a:latin typeface="Aptos"/>
              </a:rPr>
              <a:t>AgentPhone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5952" y="6419088"/>
            <a:ext cx="457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A2AEC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