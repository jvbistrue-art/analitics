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12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" y="530352"/>
            <a:ext cx="1417320" cy="310896"/>
          </a:xfrm>
          <a:prstGeom prst="roundRect">
            <a:avLst/>
          </a:prstGeom>
          <a:solidFill>
            <a:srgbClr val="50F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Premium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115568"/>
            <a:ext cx="658368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000" b="1">
                <a:solidFill>
                  <a:srgbClr val="F8FAFC"/>
                </a:solidFill>
                <a:latin typeface="Aptos"/>
              </a:rPr>
              <a:t>AgentPhone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6400800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500" b="1">
                <a:solidFill>
                  <a:srgbClr val="50F0B2"/>
                </a:solidFill>
                <a:latin typeface="Aptos"/>
              </a:rPr>
              <a:t>Личный AI-шник
в кармане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54096"/>
            <a:ext cx="585216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BB8CD"/>
                </a:solidFill>
                <a:latin typeface="Aptos"/>
              </a:rPr>
              <a:t>Не требует много внимания, но всегда под рукой: понимает цель, сам ведёт рутину и просит подтверждение только в важных местах.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4645152"/>
            <a:ext cx="2148840" cy="987552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4800600"/>
            <a:ext cx="17373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50F0B2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266944"/>
            <a:ext cx="1691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ABB8CD"/>
                </a:solidFill>
                <a:latin typeface="Aptos"/>
              </a:rPr>
              <a:t>вход: цель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82112" y="4645152"/>
            <a:ext cx="2148840" cy="987552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800600"/>
            <a:ext cx="17373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5C9A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5266944"/>
            <a:ext cx="1691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ABB8CD"/>
                </a:solidFill>
                <a:latin typeface="Aptos"/>
              </a:rPr>
              <a:t>pocket-cases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96128" y="4645152"/>
            <a:ext cx="2148840" cy="987552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7296" y="4800600"/>
            <a:ext cx="17373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FFCA67"/>
                </a:solidFill>
                <a:latin typeface="Aptos"/>
              </a:rPr>
              <a:t>L0/L1/L2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4" y="5266944"/>
            <a:ext cx="1691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ABB8CD"/>
                </a:solidFill>
                <a:latin typeface="Aptos"/>
              </a:rPr>
              <a:t>контроль риска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658368"/>
            <a:ext cx="2697480" cy="5285232"/>
          </a:xfrm>
          <a:prstGeom prst="roundRect">
            <a:avLst/>
          </a:prstGeom>
          <a:solidFill>
            <a:srgbClr val="050812"/>
          </a:solidFill>
          <a:ln w="13970">
            <a:solidFill>
              <a:srgbClr val="647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0" y="841248"/>
            <a:ext cx="2441448" cy="4919472"/>
          </a:xfrm>
          <a:prstGeom prst="roundRect">
            <a:avLst/>
          </a:prstGeom>
          <a:solidFill>
            <a:srgbClr val="0B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069848"/>
            <a:ext cx="207568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ABB8CD"/>
                </a:solidFill>
                <a:latin typeface="Aptos"/>
              </a:rPr>
              <a:t>AgentPhone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4836" y="1645920"/>
            <a:ext cx="1687068" cy="530352"/>
          </a:xfrm>
          <a:prstGeom prst="roundRect">
            <a:avLst/>
          </a:prstGeom>
          <a:solidFill>
            <a:srgbClr val="50F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/>
            <a:r>
              <a:rPr sz="900">
                <a:solidFill>
                  <a:srgbClr val="070A12"/>
                </a:solidFill>
                <a:latin typeface="Aptos"/>
              </a:rPr>
              <a:t>Согласуй вечер с Васей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04504" y="2340864"/>
            <a:ext cx="1687068" cy="530352"/>
          </a:xfrm>
          <a:prstGeom prst="roundRect">
            <a:avLst/>
          </a:prstGeom>
          <a:solidFill>
            <a:srgbClr val="21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/>
            <a:r>
              <a:rPr sz="900">
                <a:solidFill>
                  <a:srgbClr val="F8FAFC"/>
                </a:solidFill>
                <a:latin typeface="Aptos"/>
              </a:rPr>
              <a:t>Нашёл 3 варианта. Написать и забронировать?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4836" y="3291840"/>
            <a:ext cx="1687068" cy="530352"/>
          </a:xfrm>
          <a:prstGeom prst="roundRect">
            <a:avLst/>
          </a:prstGeom>
          <a:solidFill>
            <a:srgbClr val="50F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/>
            <a:r>
              <a:rPr sz="900">
                <a:solidFill>
                  <a:srgbClr val="070A12"/>
                </a:solidFill>
                <a:latin typeface="Aptos"/>
              </a:rPr>
              <a:t>Да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04504" y="3913632"/>
            <a:ext cx="1687068" cy="530352"/>
          </a:xfrm>
          <a:prstGeom prst="roundRect">
            <a:avLst/>
          </a:prstGeom>
          <a:solidFill>
            <a:srgbClr val="2131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/>
            <a:r>
              <a:rPr sz="900">
                <a:solidFill>
                  <a:srgbClr val="F8FAFC"/>
                </a:solidFill>
                <a:latin typeface="Aptos"/>
              </a:rPr>
              <a:t>Готово. Я напомню, когда пора выходить.</a:t>
            </a:r>
          </a:p>
        </p:txBody>
      </p:sp>
      <p:sp>
        <p:nvSpPr>
          <p:cNvPr id="25" name="Oval 24"/>
          <p:cNvSpPr/>
          <p:nvPr/>
        </p:nvSpPr>
        <p:spPr>
          <a:xfrm>
            <a:off x="9358884" y="5193792"/>
            <a:ext cx="548640" cy="548640"/>
          </a:xfrm>
          <a:prstGeom prst="ellipse">
            <a:avLst/>
          </a:prstGeom>
          <a:solidFill>
            <a:srgbClr val="50F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9196" y="5349240"/>
            <a:ext cx="128016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70A12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142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1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5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Смартфон стал работой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Каждый день пользователь обслуживает интерфейсы: открывает, ищет, переключается, помнит, проверяет.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926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ABB8CD"/>
                </a:solidFill>
                <a:latin typeface="Aptos"/>
              </a:rPr>
              <a:t>найти иконку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971800"/>
            <a:ext cx="2926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8FAFC"/>
                </a:solidFill>
                <a:latin typeface="Aptos"/>
              </a:rPr>
              <a:t>открыть чат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68880"/>
            <a:ext cx="2926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ABB8CD"/>
                </a:solidFill>
                <a:latin typeface="Aptos"/>
              </a:rPr>
              <a:t>вспомнить контекст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429000"/>
            <a:ext cx="2926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заполнить форму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224528"/>
            <a:ext cx="2926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ABB8CD"/>
                </a:solidFill>
                <a:latin typeface="Aptos"/>
              </a:rPr>
              <a:t>проверить оплату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663440"/>
            <a:ext cx="2926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5C9AFF"/>
                </a:solidFill>
                <a:latin typeface="Aptos"/>
              </a:rPr>
              <a:t>не забыть follow-up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5596128"/>
            <a:ext cx="9281160" cy="585216"/>
          </a:xfrm>
          <a:prstGeom prst="roundRect">
            <a:avLst/>
          </a:prstGeom>
          <a:solidFill>
            <a:srgbClr val="111F35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5751576"/>
            <a:ext cx="8641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Проблема не в том, что ассистенты плохо отвечают. Проблема в том, что телефон всё ещё требует оператора.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2D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1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AB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Не ассистент поверх телефона. Телефон под управлением агента.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Pixel становится руками и глазами AI, а приложения — временными инструментами для выполнения целей.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2788920"/>
            <a:ext cx="2304288" cy="1554480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035808"/>
            <a:ext cx="1828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AB82FF"/>
                </a:solidFill>
                <a:latin typeface="Aptos"/>
              </a:rPr>
              <a:t>Цель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639312"/>
            <a:ext cx="162763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ABB8CD"/>
                </a:solidFill>
                <a:latin typeface="Aptos"/>
              </a:rPr>
              <a:t>«Сделай» вместо «Открой приложение»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66744" y="2788920"/>
            <a:ext cx="2304288" cy="1554480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2" y="3035808"/>
            <a:ext cx="1828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0F0B2"/>
                </a:solidFill>
                <a:latin typeface="Aptos"/>
              </a:rPr>
              <a:t>План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3639312"/>
            <a:ext cx="162763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ABB8CD"/>
                </a:solidFill>
                <a:latin typeface="Aptos"/>
              </a:rPr>
              <a:t>агент сам выбирает шаги и инструменты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5664" y="2788920"/>
            <a:ext cx="2304288" cy="1554480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3035808"/>
            <a:ext cx="1828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0F0B2"/>
                </a:solidFill>
                <a:latin typeface="Aptos"/>
              </a:rPr>
              <a:t>Действие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639312"/>
            <a:ext cx="162763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ABB8CD"/>
                </a:solidFill>
                <a:latin typeface="Aptos"/>
              </a:rPr>
              <a:t>Accessibility, уведомления, сервисы, APK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44584" y="2788920"/>
            <a:ext cx="2304288" cy="1554480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5752" y="3035808"/>
            <a:ext cx="1828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0F0B2"/>
                </a:solidFill>
                <a:latin typeface="Aptos"/>
              </a:rPr>
              <a:t>Память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3639312"/>
            <a:ext cx="162763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ABB8CD"/>
                </a:solidFill>
                <a:latin typeface="Aptos"/>
              </a:rPr>
              <a:t>Personal KB хранит людей, места, привычки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157216"/>
            <a:ext cx="1005840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0F0B2"/>
                </a:solidFill>
                <a:latin typeface="Aptos"/>
              </a:rPr>
              <a:t>Ощущение для пользователя: рядом человек, который не мешает, но всегда может взять рутину на себя.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12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50F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5 POCKET-CASES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Где AgentPhone продаёт себя сам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Каждый кейс показывает не функцию, а снятую с пользователя микрорутину.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88920"/>
            <a:ext cx="2057400" cy="18470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53512"/>
            <a:ext cx="42062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50F0B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71800"/>
            <a:ext cx="11521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F8FAFC"/>
                </a:solidFill>
                <a:latin typeface="Aptos"/>
              </a:rPr>
              <a:t>Переписка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538728"/>
            <a:ext cx="166420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70" b="0">
                <a:solidFill>
                  <a:srgbClr val="ABB8CD"/>
                </a:solidFill>
                <a:latin typeface="Aptos"/>
              </a:rPr>
              <a:t>согласует, отвечает, не забывает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2788920"/>
            <a:ext cx="2057400" cy="18470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5536" y="2953512"/>
            <a:ext cx="42062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5C9A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971800"/>
            <a:ext cx="11521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F8FAFC"/>
                </a:solidFill>
                <a:latin typeface="Aptos"/>
              </a:rPr>
              <a:t>День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3538728"/>
            <a:ext cx="166420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70" b="0">
                <a:solidFill>
                  <a:srgbClr val="ABB8CD"/>
                </a:solidFill>
                <a:latin typeface="Aptos"/>
              </a:rPr>
              <a:t>следит за временем, дорогой и push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66944" y="2788920"/>
            <a:ext cx="2057400" cy="18470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9824" y="2953512"/>
            <a:ext cx="42062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FFCA67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2971800"/>
            <a:ext cx="11521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F8FAFC"/>
                </a:solidFill>
                <a:latin typeface="Aptos"/>
              </a:rPr>
              <a:t>Сделки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3538728"/>
            <a:ext cx="166420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70" b="0">
                <a:solidFill>
                  <a:srgbClr val="ABB8CD"/>
                </a:solidFill>
                <a:latin typeface="Aptos"/>
              </a:rPr>
              <a:t>бронь, покупки, оплаты с L2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1232" y="2788920"/>
            <a:ext cx="2057400" cy="18470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2953512"/>
            <a:ext cx="42062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AB82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2971800"/>
            <a:ext cx="11521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F8FAFC"/>
                </a:solidFill>
                <a:latin typeface="Aptos"/>
              </a:rPr>
              <a:t>Телефон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38728"/>
            <a:ext cx="166420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70" b="0">
                <a:solidFill>
                  <a:srgbClr val="ABB8CD"/>
                </a:solidFill>
                <a:latin typeface="Aptos"/>
              </a:rPr>
              <a:t>чистит, обновляет, настраивает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2788920"/>
            <a:ext cx="2057400" cy="18470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953512"/>
            <a:ext cx="42062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FF7494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97312" y="2971800"/>
            <a:ext cx="11521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F8FAFC"/>
                </a:solidFill>
                <a:latin typeface="Aptos"/>
              </a:rPr>
              <a:t>Память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6688" y="3538728"/>
            <a:ext cx="1664208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70" b="0">
                <a:solidFill>
                  <a:srgbClr val="ABB8CD"/>
                </a:solidFill>
                <a:latin typeface="Aptos"/>
              </a:rPr>
              <a:t>follow-up, люди, обещания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285232"/>
            <a:ext cx="996696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Формула: агент не требует внимания постоянно, но берёт управление в момент, когда человеку это нужно.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12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50F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POCKET CASE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Переписка без микроменеджмента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Агент закрывает короткие коммуникации, где важны контекст и тон.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359152"/>
            <a:ext cx="3657600" cy="27614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06624"/>
            <a:ext cx="2971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50F0B2"/>
                </a:solidFill>
                <a:latin typeface="Aptos"/>
              </a:rPr>
              <a:t>Пользователь говорит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310128"/>
            <a:ext cx="283464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"/>
              </a:rPr>
              <a:t>«Ответь маме, что буду через час»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4370832"/>
            <a:ext cx="2834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ABB8CD"/>
                </a:solidFill>
                <a:latin typeface="Aptos"/>
              </a:rPr>
              <a:t>1 фраза вместо 5–10 экранов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3168" y="2359152"/>
            <a:ext cx="2971800" cy="2761488"/>
          </a:xfrm>
          <a:prstGeom prst="roundRect">
            <a:avLst/>
          </a:prstGeom>
          <a:solidFill>
            <a:srgbClr val="131C30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5776" y="2706624"/>
            <a:ext cx="2286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50F0B2"/>
                </a:solidFill>
                <a:latin typeface="Aptos"/>
              </a:rPr>
              <a:t>Что делает агент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3273552"/>
            <a:ext cx="2157984" cy="1298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резолвит контакт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выбирает канал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пишет в привычном стиле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просит approve перед отправкой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359152"/>
            <a:ext cx="3154680" cy="2761488"/>
          </a:xfrm>
          <a:prstGeom prst="roundRect">
            <a:avLst/>
          </a:prstGeom>
          <a:solidFill>
            <a:srgbClr val="102E33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706624"/>
            <a:ext cx="2606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50F0B2"/>
                </a:solidFill>
                <a:latin typeface="Aptos"/>
              </a:rPr>
              <a:t>Почему это продаёт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346704"/>
            <a:ext cx="2331720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меньше забытых сообщений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4443984"/>
            <a:ext cx="22860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BB8CD"/>
                </a:solidFill>
                <a:latin typeface="Aptos"/>
              </a:rPr>
              <a:t>меньше внимания к телефону — больше результата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142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1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5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POCKET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День под контролем без лишних уведомлений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Телефон сам следит за важным и не шумит, когда всё нормально.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359152"/>
            <a:ext cx="3657600" cy="27614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06624"/>
            <a:ext cx="2971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5C9AFF"/>
                </a:solidFill>
                <a:latin typeface="Aptos"/>
              </a:rPr>
              <a:t>Пользователь говорит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310128"/>
            <a:ext cx="283464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"/>
              </a:rPr>
              <a:t>«Скажи, когда подъедет такси»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4370832"/>
            <a:ext cx="2834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ABB8CD"/>
                </a:solidFill>
                <a:latin typeface="Aptos"/>
              </a:rPr>
              <a:t>1 фраза вместо 5–10 экранов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3168" y="2359152"/>
            <a:ext cx="2971800" cy="2761488"/>
          </a:xfrm>
          <a:prstGeom prst="roundRect">
            <a:avLst/>
          </a:prstGeom>
          <a:solidFill>
            <a:srgbClr val="131C30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5776" y="2706624"/>
            <a:ext cx="2286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5C9AFF"/>
                </a:solidFill>
                <a:latin typeface="Aptos"/>
              </a:rPr>
              <a:t>Что делает агент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3273552"/>
            <a:ext cx="2157984" cy="1298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слушает push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сверяет время и гео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говорит вслух при триггере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перепланирует при задержке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359152"/>
            <a:ext cx="3154680" cy="27614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706624"/>
            <a:ext cx="2606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5C9AFF"/>
                </a:solidFill>
                <a:latin typeface="Aptos"/>
              </a:rPr>
              <a:t>Почему это продаёт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346704"/>
            <a:ext cx="2331720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не нужно мониторить экран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4443984"/>
            <a:ext cx="22860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BB8CD"/>
                </a:solidFill>
                <a:latin typeface="Aptos"/>
              </a:rPr>
              <a:t>меньше внимания к телефону — больше результата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3E3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4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FFC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POCKET CASE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Бронирования, покупки и оплаты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Автопилот для рутины с безопасной остановкой на финальном шаге.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359152"/>
            <a:ext cx="3657600" cy="27614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06624"/>
            <a:ext cx="2971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CA67"/>
                </a:solidFill>
                <a:latin typeface="Aptos"/>
              </a:rPr>
              <a:t>Пользователь говорит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310128"/>
            <a:ext cx="283464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"/>
              </a:rPr>
              <a:t>«Забронируй стол на завтра»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4370832"/>
            <a:ext cx="2834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ABB8CD"/>
                </a:solidFill>
                <a:latin typeface="Aptos"/>
              </a:rPr>
              <a:t>1 фраза вместо 5–10 экранов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3168" y="2359152"/>
            <a:ext cx="2971800" cy="2761488"/>
          </a:xfrm>
          <a:prstGeom prst="roundRect">
            <a:avLst/>
          </a:prstGeom>
          <a:solidFill>
            <a:srgbClr val="131C30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5776" y="2706624"/>
            <a:ext cx="2286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CA67"/>
                </a:solidFill>
                <a:latin typeface="Aptos"/>
              </a:rPr>
              <a:t>Что делает агент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3273552"/>
            <a:ext cx="2157984" cy="1298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ищет варианты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заполняет формы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ставит нужный APK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деньги — только через L2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359152"/>
            <a:ext cx="3154680" cy="27614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706624"/>
            <a:ext cx="2606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CA67"/>
                </a:solidFill>
                <a:latin typeface="Aptos"/>
              </a:rPr>
              <a:t>Почему это продаёт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346704"/>
            <a:ext cx="2331720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скорость без потери контроля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4443984"/>
            <a:ext cx="22860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BB8CD"/>
                </a:solidFill>
                <a:latin typeface="Aptos"/>
              </a:rPr>
              <a:t>меньше внимания к телефону — больше результата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2D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1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AB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POCKET CASE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Техподдержка телефона в кармане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Личный администратор устройства, который держит телефон в порядке.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359152"/>
            <a:ext cx="3657600" cy="27614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06624"/>
            <a:ext cx="2971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AB82FF"/>
                </a:solidFill>
                <a:latin typeface="Aptos"/>
              </a:rPr>
              <a:t>Пользователь говорит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310128"/>
            <a:ext cx="283464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"/>
              </a:rPr>
              <a:t>«Разберись, почему телефон тормозит»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4370832"/>
            <a:ext cx="2834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ABB8CD"/>
                </a:solidFill>
                <a:latin typeface="Aptos"/>
              </a:rPr>
              <a:t>1 фраза вместо 5–10 экранов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3168" y="2359152"/>
            <a:ext cx="2971800" cy="2761488"/>
          </a:xfrm>
          <a:prstGeom prst="roundRect">
            <a:avLst/>
          </a:prstGeom>
          <a:solidFill>
            <a:srgbClr val="131C30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5776" y="2706624"/>
            <a:ext cx="2286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AB82FF"/>
                </a:solidFill>
                <a:latin typeface="Aptos"/>
              </a:rPr>
              <a:t>Что делает агент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3273552"/>
            <a:ext cx="2157984" cy="1298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находит тяжёлые приложения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чистит дубликаты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обновляет нужное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объясняет изменения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359152"/>
            <a:ext cx="3154680" cy="27614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706624"/>
            <a:ext cx="2606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AB82FF"/>
                </a:solidFill>
                <a:latin typeface="Aptos"/>
              </a:rPr>
              <a:t>Почему это продаёт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346704"/>
            <a:ext cx="2331720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телефон не превращается в свалку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4443984"/>
            <a:ext cx="22860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BB8CD"/>
                </a:solidFill>
                <a:latin typeface="Aptos"/>
              </a:rPr>
              <a:t>меньше внимания к телефону — больше результата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4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3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FF7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POCKET CASE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Память, follow-up и «не забыть»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Агент держит договорённости и подсказывает следующий шаг без лишнего шума.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359152"/>
            <a:ext cx="3657600" cy="27614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06624"/>
            <a:ext cx="2971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7494"/>
                </a:solidFill>
                <a:latin typeface="Aptos"/>
              </a:rPr>
              <a:t>Пользователь говорит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310128"/>
            <a:ext cx="283464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"/>
              </a:rPr>
              <a:t>«Напомни, если я не отвечу инвестору»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4370832"/>
            <a:ext cx="28346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ABB8CD"/>
                </a:solidFill>
                <a:latin typeface="Aptos"/>
              </a:rPr>
              <a:t>1 фраза вместо 5–10 экранов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3168" y="2359152"/>
            <a:ext cx="2971800" cy="2761488"/>
          </a:xfrm>
          <a:prstGeom prst="roundRect">
            <a:avLst/>
          </a:prstGeom>
          <a:solidFill>
            <a:srgbClr val="131C30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5776" y="2706624"/>
            <a:ext cx="2286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7494"/>
                </a:solidFill>
                <a:latin typeface="Aptos"/>
              </a:rPr>
              <a:t>Что делает агент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3273552"/>
            <a:ext cx="2157984" cy="1298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помнит контекст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связывает людей и события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создаёт follow-up</a:t>
            </a:r>
          </a:p>
          <a:p>
            <a:pPr marL="0">
              <a:spcAft>
                <a:spcPts val="504"/>
              </a:spcAft>
              <a:defRPr sz="1330">
                <a:solidFill>
                  <a:srgbClr val="F8FAFC"/>
                </a:solidFill>
                <a:latin typeface="Aptos"/>
              </a:defRPr>
            </a:pPr>
            <a:r>
              <a:t>предлагает следующий шаг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359152"/>
            <a:ext cx="3154680" cy="276148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706624"/>
            <a:ext cx="2606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7494"/>
                </a:solidFill>
                <a:latin typeface="Aptos"/>
              </a:rPr>
              <a:t>Почему это продаёт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346704"/>
            <a:ext cx="2331720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внешняя память без ухода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4443984"/>
            <a:ext cx="22860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ABB8CD"/>
                </a:solidFill>
                <a:latin typeface="Aptos"/>
              </a:rPr>
              <a:t>меньше внимания к телефону — больше результата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142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1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5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Observe → Plan → Act → Confirm →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Архитектура объясняется одним циклом, понятным покупателю и инвестору.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761488"/>
            <a:ext cx="914400" cy="914400"/>
          </a:xfrm>
          <a:prstGeom prst="ellipse">
            <a:avLst/>
          </a:prstGeom>
          <a:solidFill>
            <a:srgbClr val="50F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72384"/>
            <a:ext cx="80467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70A1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68496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370832"/>
            <a:ext cx="2011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BB8CD"/>
                </a:solidFill>
                <a:latin typeface="Aptos"/>
              </a:rPr>
              <a:t>голос, текст, push, календарь, гео</a:t>
            </a:r>
          </a:p>
        </p:txBody>
      </p:sp>
      <p:sp>
        <p:nvSpPr>
          <p:cNvPr id="12" name="Oval 11"/>
          <p:cNvSpPr/>
          <p:nvPr/>
        </p:nvSpPr>
        <p:spPr>
          <a:xfrm>
            <a:off x="3090672" y="2761488"/>
            <a:ext cx="914400" cy="914400"/>
          </a:xfrm>
          <a:prstGeom prst="ellipse">
            <a:avLst/>
          </a:prstGeom>
          <a:solidFill>
            <a:srgbClr val="5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5536" y="3072384"/>
            <a:ext cx="80467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70A1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968496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370832"/>
            <a:ext cx="2011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BB8CD"/>
                </a:solidFill>
                <a:latin typeface="Aptos"/>
              </a:rPr>
              <a:t>цель → шаги → инструменты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2761488"/>
            <a:ext cx="914400" cy="914400"/>
          </a:xfrm>
          <a:prstGeom prst="ellipse">
            <a:avLst/>
          </a:prstGeom>
          <a:solidFill>
            <a:srgbClr val="50F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1536" y="3072384"/>
            <a:ext cx="80467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70A12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968496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370832"/>
            <a:ext cx="2011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BB8CD"/>
                </a:solidFill>
                <a:latin typeface="Aptos"/>
              </a:rPr>
              <a:t>клики, текст, APK, сервисы</a:t>
            </a:r>
          </a:p>
        </p:txBody>
      </p:sp>
      <p:sp>
        <p:nvSpPr>
          <p:cNvPr id="20" name="Oval 19"/>
          <p:cNvSpPr/>
          <p:nvPr/>
        </p:nvSpPr>
        <p:spPr>
          <a:xfrm>
            <a:off x="7662672" y="2761488"/>
            <a:ext cx="914400" cy="914400"/>
          </a:xfrm>
          <a:prstGeom prst="ellipse">
            <a:avLst/>
          </a:prstGeom>
          <a:solidFill>
            <a:srgbClr val="5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3072384"/>
            <a:ext cx="80467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70A12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968496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370832"/>
            <a:ext cx="2011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BB8CD"/>
                </a:solidFill>
                <a:latin typeface="Aptos"/>
              </a:rPr>
              <a:t>L0/L1/L2 по уровню риска</a:t>
            </a:r>
          </a:p>
        </p:txBody>
      </p:sp>
      <p:sp>
        <p:nvSpPr>
          <p:cNvPr id="24" name="Oval 23"/>
          <p:cNvSpPr/>
          <p:nvPr/>
        </p:nvSpPr>
        <p:spPr>
          <a:xfrm>
            <a:off x="9948672" y="2761488"/>
            <a:ext cx="914400" cy="914400"/>
          </a:xfrm>
          <a:prstGeom prst="ellipse">
            <a:avLst/>
          </a:prstGeom>
          <a:solidFill>
            <a:srgbClr val="50F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3536" y="3072384"/>
            <a:ext cx="80467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70A12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968496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Remember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370832"/>
            <a:ext cx="2011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BB8CD"/>
                </a:solidFill>
                <a:latin typeface="Aptos"/>
              </a:rPr>
              <a:t>Personal KB и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32120"/>
            <a:ext cx="98755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C9AFF"/>
                </a:solidFill>
                <a:latin typeface="Aptos"/>
              </a:rPr>
              <a:t>Локально — приватное и простое. В облако — только сложное планирование обезличенным slice.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40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3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FF7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TRUST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Автономность без потери контроля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Пользователь не должен доверять агенту вслепую: рискованные действия имеют понятный тормоз.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87168"/>
            <a:ext cx="4892040" cy="65836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642616"/>
            <a:ext cx="56692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50F0B2"/>
                </a:solidFill>
                <a:latin typeface="Aptos"/>
              </a:rPr>
              <a:t>L0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2642616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F8FAFC"/>
                </a:solidFill>
                <a:latin typeface="Aptos"/>
              </a:rPr>
              <a:t>Read-only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660904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ABB8CD"/>
                </a:solidFill>
                <a:latin typeface="Aptos"/>
              </a:rPr>
              <a:t>агент действует молча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19856"/>
            <a:ext cx="4892040" cy="65836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575304"/>
            <a:ext cx="56692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FFCA67"/>
                </a:solidFill>
                <a:latin typeface="Aptos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3575304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F8FAFC"/>
                </a:solidFill>
                <a:latin typeface="Aptos"/>
              </a:rPr>
              <a:t>State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593592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ABB8CD"/>
                </a:solidFill>
                <a:latin typeface="Aptos"/>
              </a:rPr>
              <a:t>подтверждение в чате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52544"/>
            <a:ext cx="4892040" cy="658368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507992"/>
            <a:ext cx="56692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FF7494"/>
                </a:solidFill>
                <a:latin typeface="Aptos"/>
              </a:rP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4507992"/>
            <a:ext cx="1691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F8FAFC"/>
                </a:solidFill>
                <a:latin typeface="Aptos"/>
              </a:rPr>
              <a:t>Деньги / третьи лица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4526280"/>
            <a:ext cx="1645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ABB8CD"/>
                </a:solidFill>
                <a:latin typeface="Aptos"/>
              </a:rPr>
              <a:t>голосовое подтверждение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487168"/>
            <a:ext cx="4526280" cy="2542032"/>
          </a:xfrm>
          <a:prstGeom prst="roundRect">
            <a:avLst/>
          </a:prstGeom>
          <a:solidFill>
            <a:srgbClr val="2E1830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2816352"/>
            <a:ext cx="3840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7494"/>
                </a:solidFill>
                <a:latin typeface="Aptos"/>
              </a:rPr>
              <a:t>Sandbox для денег и памяти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401568"/>
            <a:ext cx="3456432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отдельная агентская карта</a:t>
            </a:r>
          </a:p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лимиты и журнал операций</a:t>
            </a:r>
          </a:p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E2EE backup, ключ у пользователя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2D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1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AB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Провалился не AI. Провалился лишний гаджет.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Rabbit R1 и Humane AI Pin требовали новый предмет и новое поведение. AgentPhone живёт в привычном смартфоне.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" y="2578608"/>
            <a:ext cx="4828032" cy="2414016"/>
          </a:xfrm>
          <a:prstGeom prst="roundRect">
            <a:avLst/>
          </a:prstGeom>
          <a:solidFill>
            <a:srgbClr val="381D33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2907792"/>
            <a:ext cx="40690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7494"/>
                </a:solidFill>
                <a:latin typeface="Aptos"/>
              </a:rPr>
              <a:t>AI-gadgets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584448"/>
            <a:ext cx="34747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76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ещё одна вещь</a:t>
            </a:r>
          </a:p>
          <a:p>
            <a:pPr marL="0">
              <a:spcAft>
                <a:spcPts val="576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ещё один интерфейс</a:t>
            </a:r>
          </a:p>
          <a:p>
            <a:pPr marL="0">
              <a:spcAft>
                <a:spcPts val="576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ограниченный доступ к жизни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578608"/>
            <a:ext cx="4828032" cy="2414016"/>
          </a:xfrm>
          <a:prstGeom prst="roundRect">
            <a:avLst/>
          </a:prstGeom>
          <a:solidFill>
            <a:srgbClr val="122F36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907792"/>
            <a:ext cx="40690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0F0B2"/>
                </a:solidFill>
                <a:latin typeface="Aptos"/>
              </a:rPr>
              <a:t>AgentPhone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3584448"/>
            <a:ext cx="34747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76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тот же Pixel</a:t>
            </a:r>
          </a:p>
          <a:p>
            <a:pPr marL="0">
              <a:spcAft>
                <a:spcPts val="576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привычные приложения</a:t>
            </a:r>
          </a:p>
          <a:p>
            <a:pPr marL="0">
              <a:spcAft>
                <a:spcPts val="576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новый intelligence-layer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3E3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4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FFC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Продаём готовый AI-телефон, а не приложение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Pixel + кастомный образ + agent-runtime + управляемая облачная инфраструктура.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395728"/>
            <a:ext cx="2148840" cy="987552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551176"/>
            <a:ext cx="17373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50F0B2"/>
                </a:solidFill>
                <a:latin typeface="Aptos"/>
              </a:rPr>
              <a:t>Pixel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017520"/>
            <a:ext cx="1691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ABB8CD"/>
                </a:solidFill>
                <a:latin typeface="Aptos"/>
              </a:rPr>
              <a:t>прошитый под ключ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395728"/>
            <a:ext cx="2148840" cy="987552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2551176"/>
            <a:ext cx="17373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5C9AFF"/>
                </a:solidFill>
                <a:latin typeface="Aptos"/>
              </a:rPr>
              <a:t>BYOK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3017520"/>
            <a:ext cx="1691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ABB8CD"/>
                </a:solidFill>
                <a:latin typeface="Aptos"/>
              </a:rPr>
              <a:t>контроль LLM-cost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888" y="2395728"/>
            <a:ext cx="2148840" cy="987552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2551176"/>
            <a:ext cx="17373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FFCA67"/>
                </a:solidFill>
                <a:latin typeface="Aptos"/>
              </a:rPr>
              <a:t>$5–10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3017520"/>
            <a:ext cx="1691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ABB8CD"/>
                </a:solidFill>
                <a:latin typeface="Aptos"/>
              </a:rPr>
              <a:t>лимит по умолчанию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22208" y="2395728"/>
            <a:ext cx="2148840" cy="987552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23376" y="2551176"/>
            <a:ext cx="17373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FF7494"/>
                </a:solidFill>
                <a:latin typeface="Aptos"/>
              </a:rPr>
              <a:t>100/мес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3017520"/>
            <a:ext cx="1691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ABB8CD"/>
                </a:solidFill>
                <a:latin typeface="Aptos"/>
              </a:rPr>
              <a:t>PMF-метрика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4160520"/>
            <a:ext cx="9692640" cy="804672"/>
          </a:xfrm>
          <a:prstGeom prst="roundRect">
            <a:avLst/>
          </a:prstGeom>
          <a:solidFill>
            <a:srgbClr val="2D2A1A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2768" y="4389120"/>
            <a:ext cx="90525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Open-source — канал доверия и distribution. Доход — устройство и agent-инфраструктура.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12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18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645920"/>
            <a:ext cx="2194560" cy="2194560"/>
          </a:xfrm>
          <a:prstGeom prst="ellipse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50F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70A12"/>
                </a:solidFill>
                <a:latin typeface="Aptos"/>
              </a:rPr>
              <a:t>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69848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Первые 100 устройств должны доказать новую привычку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9966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0">
                <a:solidFill>
                  <a:srgbClr val="ABB8CD"/>
                </a:solidFill>
                <a:latin typeface="Aptos"/>
              </a:rPr>
              <a:t>Покупают не AI-фичу. Покупают ощущение, что телефон наконец-то работает на человека.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87168"/>
            <a:ext cx="3200400" cy="2240280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816352"/>
            <a:ext cx="2606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50F0B2"/>
                </a:solidFill>
                <a:latin typeface="Aptos"/>
              </a:rPr>
              <a:t>Доказать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3456432"/>
            <a:ext cx="205740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100 устройств/мес</a:t>
            </a:r>
          </a:p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5 killer-cases</a:t>
            </a:r>
          </a:p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удержание через Personal KB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9432" y="2487168"/>
            <a:ext cx="3200400" cy="2240280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816352"/>
            <a:ext cx="2606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CA67"/>
                </a:solidFill>
                <a:latin typeface="Aptos"/>
              </a:rPr>
              <a:t>Нужно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456432"/>
            <a:ext cx="205740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ранние покупатели</a:t>
            </a:r>
          </a:p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Pixel-поставка</a:t>
            </a:r>
          </a:p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ресурсы на runtime/OTA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2487168"/>
            <a:ext cx="3200400" cy="2240280"/>
          </a:xfrm>
          <a:prstGeom prst="roundRect">
            <a:avLst/>
          </a:prstGeom>
          <a:solidFill>
            <a:srgbClr val="19263F"/>
          </a:solidFill>
          <a:ln>
            <a:solidFill>
              <a:srgbClr val="35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1" y="2816352"/>
            <a:ext cx="2606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5C9AFF"/>
                </a:solidFill>
                <a:latin typeface="Aptos"/>
              </a:rPr>
              <a:t>Верить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1" y="3456432"/>
            <a:ext cx="205740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привычный форм-фактор</a:t>
            </a:r>
          </a:p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local-first privacy</a:t>
            </a:r>
          </a:p>
          <a:p>
            <a:pPr marL="0">
              <a:spcAft>
                <a:spcPts val="576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контроль риска L0/L1/L2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50F0B2"/>
                </a:solidFill>
                <a:latin typeface="Aptos"/>
              </a:rPr>
              <a:t>AgentPhone: smartphone becomes your pocket agent.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7787A2"/>
                </a:solidFill>
                <a:latin typeface="Aptos"/>
              </a:rPr>
              <a:t>AgentPhone / premium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548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1">
                <a:solidFill>
                  <a:srgbClr val="7787A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